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731520"/>
            <a:ext cx="4572000" cy="4572000"/>
          </a:xfrm>
          <a:prstGeom prst="ellipse">
            <a:avLst/>
          </a:prstGeom>
          <a:solidFill>
            <a:srgbClr val="1E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3474720"/>
            <a:ext cx="3200400" cy="3200400"/>
          </a:xfrm>
          <a:prstGeom prst="ellipse">
            <a:avLst/>
          </a:prstGeom>
          <a:solidFill>
            <a:srgbClr val="280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6B9D"/>
                </a:solidFill>
              </a:rPr>
              <a:t>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Identity-Aware Text-Prompt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B61FF"/>
                </a:solidFill>
              </a:rPr>
              <a:t>InsightFace  x  SAM3 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5029200" cy="3657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Deep Learning for Computer Vision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ระบบทำอะไร?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DD"/>
                </a:solidFill>
              </a:rPr>
              <a:t>ระบบ segmentation ที่รู้จักตัวตน (Identity-Aware)
ไม่ใช่แค่หา 'person' แต่รู้ว่าคนนั้นคือใคร และ segment เฉพาะส่วนที่เป็นของเขา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566160" cy="30175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566160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9D"/>
                </a:solidFill>
              </a:rPr>
              <a:t>Identity
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แยกสมาชิก IVE 6 คน
ด้วยใบหน้า ArcFace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566160" cy="30175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566160" cy="640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71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61FF"/>
                </a:solidFill>
              </a:rPr>
              <a:t>Possession
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8862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"yujin shirt" = เสื้อ
ของยูจินเท่านั้น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743200"/>
            <a:ext cx="3566160" cy="30175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566160" cy="64008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971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6FFB2"/>
                </a:solidFill>
              </a:rPr>
              <a:t>Text Prompt
Driven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862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พิมพ์ชื่อ + วัตถุ
ระบบทำให้เอง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 Hidden Agenda ของโจทย์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68680" cy="12344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9D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733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6B9D"/>
                </a:solidFill>
              </a:rPr>
              <a:t>Object -&gt;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3055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SAM3 มาตรฐานมองทุกคนเป็น 'person' เหมือนกันหมด
โจทย์ต้องการแยก wonyoung / yujin / gaeul ในภาพหมู่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68680" cy="12344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64992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B61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735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7B61FF"/>
                </a:solidFill>
              </a:rPr>
              <a:t>Possession 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3075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"yujin shirt" ต้องหมายถึงเสื้อของยูจินเท่านั้น
ไม่ใช่เสื้อของคนที่ยืนข้างๆ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868680" cy="12344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65192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E066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873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E066"/>
                </a:solidFill>
              </a:rPr>
              <a:t>Cross-lingual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33095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ระบบควรรองรับ prompt ภาษาอื่น เช่น ภาษาไทย
"ขอเสื้อของน้องวอนยอง"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APPROACH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แนวทางแรก: Fine-tuning SAM3 โดยตรง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475488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61FF"/>
                </a:solidFill>
              </a:rPr>
              <a:t>สิ่งที่ทำ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CCCCDD"/>
                </a:solidFill>
              </a:rPr>
              <a:t>-&gt;  เทรน SAM3 ด้วย dataset รูปเดี่ยวสมาชิก IVE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CCCCDD"/>
                </a:solidFill>
              </a:rPr>
              <a:t>-&gt;  ใส่ text label ชื่อบุคคลแต่ละคน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CCCCDD"/>
                </a:solidFill>
              </a:rPr>
              <a:t>-&gt;  หวังให้โมเดลเรียนรู้ความแตกต่างของคน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solidFill>
            <a:srgbClr val="25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666"/>
                </a:solidFill>
              </a:rPr>
              <a:t>ปัญหาที่พบ 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FFAAAA"/>
                </a:solidFill>
              </a:rPr>
              <a:t>X  Dataset ไม่เพียงพอ — ต้องการข้อมูลมหาศาล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FFAAAA"/>
                </a:solidFill>
              </a:rPr>
              <a:t>X  Model bias — SAM3 ยังมองทุกคนเป็น 'person'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FFAAAA"/>
                </a:solidFill>
              </a:rPr>
              <a:t>X  ใช้กับภาพหมู่ไม่ได้ — แยกแยะตัวตนไม่ออก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E066"/>
                </a:solidFill>
              </a:rPr>
              <a:t>-&gt;  Fine-tuning = Dead End  -&gt;  เปลี่ยนแนวทาง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InsightFace + SAM3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57276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572768"/>
            <a:ext cx="1261872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8249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Text Prompt
"wonyoung shirt"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928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9D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57276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1572768"/>
            <a:ext cx="1261872" cy="5486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168249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Prompt Parser
member + SAM3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928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61F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0672" y="157276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1572768"/>
            <a:ext cx="1261872" cy="54864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824" y="168249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InsightFace (ArcFace)
Face detect + 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8928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FFB2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157276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1572768"/>
            <a:ext cx="1261872" cy="54864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168249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Cosine Similarity
Match DB 6 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67588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" y="3675888"/>
            <a:ext cx="1261872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8561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BBox Expansion
Face -&gt; Body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9959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9D"/>
                </a:solidFill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367588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0" y="3675888"/>
            <a:ext cx="1261872" cy="5486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78561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SAM3 Segmentation
text-prompted on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9959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61FF"/>
                </a:solidFill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0672" y="367588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90672" y="3675888"/>
            <a:ext cx="1261872" cy="54864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3824" y="378561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Mask Scoring
confidence + proximity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39959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FFB2"/>
                </a:solidFill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3675888"/>
            <a:ext cx="1261872" cy="102412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3675888"/>
            <a:ext cx="1261872" cy="54864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3785616"/>
            <a:ext cx="117043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Output
Mask on full 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670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v  (ต่อแถวล่าง)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รายละเอียดแต่ละขั้นตอน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623560" cy="21031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4008" cy="21031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9D"/>
                </a:solidFill>
              </a:rPr>
              <a:t>Prompt 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"wonyoung shirt"  -&gt;  member="Wonyoung"  +  SAM3_text="shirt"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623560" cy="21031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64008" cy="210312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61FF"/>
                </a:solidFill>
              </a:rPr>
              <a:t>InsightFace (ArcFace)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RetinaFace detect -&gt; ArcFace embed -&gt; Cosine similarity vs DB
Threshold: 0.42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623560" cy="21031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64008" cy="2103120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FFB2"/>
                </a:solidFill>
              </a:rPr>
              <a:t>BBox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07992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กว้าง x3.0  |  บน x1.2 (รวมผม)  |  ล่าง x5.0 (ครอบร่างกาย)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5623560" cy="210312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86200"/>
            <a:ext cx="64008" cy="2103120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E066"/>
                </a:solidFill>
              </a:rPr>
              <a:t>Mask Quality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07992"/>
            <a:ext cx="5349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composite = confidence + proximity + overlap
proximity = centroid ของ mask ใกล้ center ROI เท่าไหร่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ปัญหา BBox ทับซ้อน &amp; วิธีแก้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2148840"/>
          </a:xfrm>
          <a:prstGeom prst="rect">
            <a:avLst/>
          </a:prstGeom>
          <a:solidFill>
            <a:srgbClr val="25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64008" cy="214884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6666"/>
                </a:solidFill>
              </a:rPr>
              <a:t>ปัญหา 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BBox ที่ขยายแล้วอาจครอบคนข้างๆด้วย
-&gt;  prompt "wonyoung hair"  แต่ SAM3 segment ผมของคนข้างๆแทน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60"/>
            <a:ext cx="11430000" cy="2651760"/>
          </a:xfrm>
          <a:prstGeom prst="rect">
            <a:avLst/>
          </a:prstGeom>
          <a:solidFill>
            <a:srgbClr val="1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64008" cy="2651760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66FFB2"/>
                </a:solidFill>
              </a:rPr>
              <a:t>วิธีแก้: Proximity Score 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คำนวณ centroid ของแต่ละ mask candidate
-&gt;  mask ที่อยู่ใกล้ center ของ ROI จะได้ composite score สูงกว่า
-&gt;  เลือก mask ที่ถูกต้องได้แม้ BBox ทับซ้อนกัน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46120"/>
            <a:ext cx="6675120" cy="475488"/>
          </a:xfrm>
          <a:prstGeom prst="rect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E066"/>
                </a:solidFill>
              </a:rPr>
              <a:t>composite = confidence + proximity + overlap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Prompt: "wonyoung"</a:t>
            </a:r>
          </a:p>
        </p:txBody>
      </p:sp>
      <p:pic>
        <p:nvPicPr>
          <p:cNvPr id="6" name="Picture 5" descr="Wonyo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01" y="1554480"/>
            <a:ext cx="10291750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6291072"/>
            <a:ext cx="3566160" cy="43891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336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9D"/>
                </a:solidFill>
              </a:rPr>
              <a:t>SAM3 text: "person"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6291072"/>
            <a:ext cx="3566160" cy="43891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6336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9D"/>
                </a:solidFill>
              </a:rPr>
              <a:t>Similarity: 0.664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6291072"/>
            <a:ext cx="3566160" cy="43891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6336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9D"/>
                </a:solidFill>
              </a:rPr>
              <a:t>Pixels: 316,909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"yujin face"  &amp;  "yujin shirt"</a:t>
            </a:r>
          </a:p>
        </p:txBody>
      </p:sp>
      <p:pic>
        <p:nvPicPr>
          <p:cNvPr id="6" name="Picture 5" descr="Yujin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45920"/>
            <a:ext cx="5788000" cy="2606040"/>
          </a:xfrm>
          <a:prstGeom prst="rect">
            <a:avLst/>
          </a:prstGeom>
        </p:spPr>
      </p:pic>
      <p:pic>
        <p:nvPicPr>
          <p:cNvPr id="7" name="Picture 6" descr="Yujin_shi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580669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9D"/>
                </a:solidFill>
              </a:rPr>
              <a:t>Prompt: "yujin face"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4846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SAM3 text: "face"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Similarity: 0.663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Pixels: 31,049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B61FF"/>
                </a:solidFill>
              </a:rPr>
              <a:t>Prompt: "yujin shirt"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846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SAM3 text: "shirt"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Similarity: 0.663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CCCCDD"/>
                </a:solidFill>
              </a:rPr>
              <a:t>Pixels: 244,312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743200"/>
            <a:ext cx="5577840" cy="548640"/>
          </a:xfrm>
          <a:prstGeom prst="rect">
            <a:avLst/>
          </a:prstGeom>
          <a:solidFill>
            <a:srgbClr val="1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79806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FFB2"/>
                </a:solidFill>
              </a:rPr>
              <a:t>OK  ได้เสื้อของยูจิน ไม่ใช่เสื้อของคนข้างๆ  (Possession-aware)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Video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80467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[vid]  all_members_video.mp4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1848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All 6 Members — Segment + BBox ทุกสมาชิก 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11430000" cy="80467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511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[vid]  all_members_video_remove_bbox.mp4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511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All 6 Members — เวอร์ชันไม่มี BBox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19856"/>
            <a:ext cx="11430000" cy="80467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838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[vid]  test_wonyoung.mp4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4838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Prompt "wonyoung" — 909 frames, 78.9% detection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52544"/>
            <a:ext cx="11430000" cy="80467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16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[vid]  test_wonyoung_hair.mp4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4165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Prompt "wonyoung hair" — segment ผมวอนยอง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85232"/>
            <a:ext cx="11430000" cy="80467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</a:rPr>
              <a:t>[vid]  yujin_hair.mp4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349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Prompt "yujin hair" — segment ผมยูจิน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สถิติการประมวลผลวิดีโอ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5029200" cy="9144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0680" y="1444752"/>
            <a:ext cx="6400800" cy="9144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36192"/>
            <a:ext cx="50292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1536192"/>
            <a:ext cx="64008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Input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2763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IVE-30s.mp4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2148840"/>
            <a:ext cx="64008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ความละเอียด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2402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1920 x 1080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61488"/>
            <a:ext cx="50292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2761488"/>
            <a:ext cx="64008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529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Frame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5292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30 fps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74136"/>
            <a:ext cx="50292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3374136"/>
            <a:ext cx="64008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655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Frames ทั้งหมด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46557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909 frames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86784"/>
            <a:ext cx="50292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3986784"/>
            <a:ext cx="64008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7822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Frame sampling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07822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ทุก 3 frames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99432"/>
            <a:ext cx="50292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4599432"/>
            <a:ext cx="64008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90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Frames ที่ประมวลผล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69087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303 frames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12080"/>
            <a:ext cx="50292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5212080"/>
            <a:ext cx="6400800" cy="5669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Detection success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30352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66FFB2"/>
                </a:solidFill>
              </a:rPr>
              <a:t>239 / 303  (78.9%)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24728"/>
            <a:ext cx="50292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5824728"/>
            <a:ext cx="6400800" cy="566928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16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DD"/>
                </a:solidFill>
              </a:rPr>
              <a:t>เวลาประมวลผล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591616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~82.8 วินาที  (~11 fps effective)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Q1: รองรับ Thai Prompt ได้ไหม?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6666"/>
                </a:solidFill>
              </a:rPr>
              <a:t>ปัจจุบัน: ไม่รองรับ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SAM3 text encoder เทรนด้วย dataset ภาษาอังกฤษ -&gt; ไม่เข้าใจ semantic ภาษาไทย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70048"/>
            <a:ext cx="5394960" cy="356616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70048"/>
            <a:ext cx="5394960" cy="640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61FF"/>
                </a:solidFill>
              </a:rPr>
              <a:t>ระยะยาว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Fine-tune SAM3 text encoder
ด้วย multilingual dataset
ที่มี caption + text prompt ภาษาไทย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70048"/>
            <a:ext cx="5394960" cy="3566160"/>
          </a:xfrm>
          <a:prstGeom prst="rect">
            <a:avLst/>
          </a:prstGeom>
          <a:solidFill>
            <a:srgbClr val="1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670048"/>
            <a:ext cx="5394960" cy="64008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61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FFB2"/>
                </a:solidFill>
              </a:rPr>
              <a:t>ระยะสั้น (Practical)  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291840"/>
            <a:ext cx="5029200" cy="1691640"/>
          </a:xfrm>
          <a:prstGeom prst="rect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364992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E0FF"/>
                </a:solidFill>
              </a:rPr>
              <a:t>"ขอเสื้อของน้องวอนยอง"
          v  LLM
     "wonyoung shirt"
          v 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74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ไม่ต้อง fine-tune ใหม่ | LLM เข้าใจ context ได้ดี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Q2: "yujin shirt" = เสื้อของยูจินเท่านั้น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3291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60320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6B9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InsightFace
หายูจิน
-&gt; face bbox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461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9D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828800"/>
            <a:ext cx="2560320" cy="3291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828800"/>
            <a:ext cx="2560320" cy="640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B61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ขยาย BBox
-&gt; ROI ครอบ
ร่างกายยูจิน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461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61FF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28800"/>
            <a:ext cx="2560320" cy="3291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828800"/>
            <a:ext cx="2560320" cy="64008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66FFB2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8346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SAM3 หา
"shirt" ภายใน
ROI เท่านั้น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461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6FFB2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2560320" cy="3291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2560320" cy="64008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E066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83464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ผลลัพธ์ =
เสื้อของยูจิน
ตามคำนิยาม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49240"/>
            <a:ext cx="11247120" cy="566928"/>
          </a:xfrm>
          <a:prstGeom prst="rect">
            <a:avLst/>
          </a:prstGeom>
          <a:solidFill>
            <a:srgbClr val="1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13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6FFB2"/>
                </a:solidFill>
              </a:rPr>
              <a:t>Key Insight: จำกัด search space ให้เหลือแค่ ROI ของบุคคลที่ระบุ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Q3: Cross-lingual — สรุปแนวทาง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3931920" cy="5029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แนวทาง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36192"/>
            <a:ext cx="3474720" cy="502920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81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ข้อดี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36192"/>
            <a:ext cx="3931920" cy="5029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819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ข้อเสีย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3931920" cy="137160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Fine-tune SAM3
ด้วย Thai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3474720" cy="137160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918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รองรับภาษาไทย
โดยตรง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103120"/>
            <a:ext cx="3931920" cy="137160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286000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Dataset ขนาดใหญ่
ใช้เวลานาน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931920" cy="1371600"/>
          </a:xfrm>
          <a:prstGeom prst="rect">
            <a:avLst/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LLM translation layer
(แนะนำ)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566160"/>
            <a:ext cx="3474720" cy="1371600"/>
          </a:xfrm>
          <a:prstGeom prst="rect">
            <a:avLst/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749040"/>
            <a:ext cx="32918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6FFB2"/>
                </a:solidFill>
              </a:rPr>
              <a:t>ทำได้ทันที
ไม่ต้อง fine-tune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566160"/>
            <a:ext cx="3931920" cy="1371600"/>
          </a:xfrm>
          <a:prstGeom prst="rect">
            <a:avLst/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749040"/>
            <a:ext cx="3749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DD"/>
                </a:solidFill>
              </a:rPr>
              <a:t>ขึ้น external API
latency เพิ่มขึ้น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20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E066"/>
                </a:solidFill>
              </a:rPr>
              <a:t>สรุป: LLM translation layer practical กว่า
LLM สมัยใหม่รองรับหลายภาษาได้ดีอยู่แล้ว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6B9D"/>
                </a:solidFill>
              </a:rPr>
              <a:t>สรุป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1430000" cy="117043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73152" cy="117043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9D"/>
                </a:solidFill>
              </a:rPr>
              <a:t>"person"  -&gt;  "wonyoung"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Identity-aware: แยกตัวตนด้วย ArcFace face embedding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96896"/>
            <a:ext cx="11430000" cy="117043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96896"/>
            <a:ext cx="73152" cy="117043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B61FF"/>
                </a:solidFill>
              </a:rPr>
              <a:t>"shirt in image"  -&gt;  "shirt ของยูจิน"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638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Possession-aware: Segment ใน ROI เฉพาะบุคคล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95344"/>
            <a:ext cx="11430000" cy="117043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95344"/>
            <a:ext cx="73152" cy="1170432"/>
          </a:xfrm>
          <a:prstGeom prst="rect">
            <a:avLst/>
          </a:prstGeom>
          <a:solidFill>
            <a:srgbClr val="66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867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FFB2"/>
                </a:solidFill>
              </a:rPr>
              <a:t>Pipeline Modular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622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เพิ่มสมาชิกใหม่ได้ทันที -&gt; เพิ่ม face embedding ใน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93792"/>
            <a:ext cx="11430000" cy="1170432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93792"/>
            <a:ext cx="73152" cy="1170432"/>
          </a:xfrm>
          <a:prstGeom prst="rect">
            <a:avLst/>
          </a:prstGeom>
          <a:solidFill>
            <a:srgbClr val="FFE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852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E066"/>
                </a:solidFill>
              </a:rPr>
              <a:t>Cross-lingual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Short-term: LLM translation layer แปลง Thai -&gt; EN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61FF"/>
                </a:solidFill>
              </a:rPr>
              <a:t>InsightFace  x  SAM3  =  Identity-Aware 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